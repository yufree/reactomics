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365D"/>
                </a:solidFill>
                <a:latin typeface="Calibri"/>
              </a:rPr>
              <a:t>Paradigm Shift: From Metabolites to Reactions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A5568"/>
                </a:solidFill>
                <a:latin typeface="Calibri"/>
              </a:rPr>
              <a:t>Reactomics treats chemical reactions as first-class analytes in untargeted MS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43000"/>
            <a:ext cx="5029200" cy="5120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65D"/>
                </a:solidFill>
                <a:latin typeface="Calibri"/>
              </a:rPr>
              <a:t>Traditional Metabolomics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2B6CB0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2926080" y="1828800"/>
            <a:ext cx="502920" cy="502920"/>
          </a:xfrm>
          <a:prstGeom prst="ellipse">
            <a:avLst/>
          </a:prstGeom>
          <a:solidFill>
            <a:srgbClr val="2B6CB0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1463040" y="3017520"/>
            <a:ext cx="502920" cy="502920"/>
          </a:xfrm>
          <a:prstGeom prst="ellipse">
            <a:avLst/>
          </a:prstGeom>
          <a:solidFill>
            <a:srgbClr val="2B6CB0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3474720" y="2834640"/>
            <a:ext cx="502920" cy="502920"/>
          </a:xfrm>
          <a:prstGeom prst="ellipse">
            <a:avLst/>
          </a:prstGeom>
          <a:solidFill>
            <a:srgbClr val="2B6CB0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4023360"/>
            <a:ext cx="502920" cy="502920"/>
          </a:xfrm>
          <a:prstGeom prst="ellipse">
            <a:avLst/>
          </a:prstGeom>
          <a:solidFill>
            <a:srgbClr val="2B6CB0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1" name="Oval 10"/>
          <p:cNvSpPr/>
          <p:nvPr/>
        </p:nvSpPr>
        <p:spPr>
          <a:xfrm>
            <a:off x="3200400" y="3931920"/>
            <a:ext cx="502920" cy="502920"/>
          </a:xfrm>
          <a:prstGeom prst="ellipse">
            <a:avLst/>
          </a:prstGeom>
          <a:solidFill>
            <a:srgbClr val="2B6CB0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709160"/>
            <a:ext cx="4663440" cy="13716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4A5568"/>
                </a:solidFill>
                <a:latin typeface="Calibri"/>
              </a:rPr>
              <a:t>Metabolites as independent entities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5621"/>
                </a:solidFill>
                <a:latin typeface="Calibri"/>
              </a:rPr>
              <a:t>Question: "Which metabolites differ?"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32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A5568"/>
                </a:solidFill>
                <a:latin typeface="Calibri"/>
              </a:rPr>
              <a:t>Requires compound annotation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532120" y="3246120"/>
            <a:ext cx="1051560" cy="502920"/>
          </a:xfrm>
          <a:prstGeom prst="rightArrow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288036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5621"/>
                </a:solidFill>
                <a:latin typeface="Calibri"/>
              </a:rPr>
              <a:t>SHIFT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1143000"/>
            <a:ext cx="5029200" cy="5120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280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76749"/>
                </a:solidFill>
                <a:latin typeface="Calibri"/>
              </a:rPr>
              <a:t>Reactomics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612380.0" y="2080260.0"/>
            <a:ext cx="2011680.0" cy="182880.0"/>
          </a:xfrm>
          <a:prstGeom prst="line">
            <a:avLst/>
          </a:prstGeom>
          <a:ln w="34925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115300" y="20071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5621"/>
                </a:solidFill>
                <a:latin typeface="Calibri"/>
              </a:rPr>
              <a:t>CH₂  14.0157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12380.0" y="2263140.0"/>
            <a:ext cx="548640.0" cy="1005840.0"/>
          </a:xfrm>
          <a:prstGeom prst="line">
            <a:avLst/>
          </a:prstGeom>
          <a:ln w="34925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83780" y="26014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B6CB0"/>
                </a:solidFill>
                <a:latin typeface="Calibri"/>
              </a:rPr>
              <a:t>O  15.9949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703820.0" y="3268980.0"/>
            <a:ext cx="457200.0" cy="1005840.0"/>
          </a:xfrm>
          <a:prstGeom prst="line">
            <a:avLst/>
          </a:prstGeom>
          <a:ln w="34925">
            <a:solidFill>
              <a:srgbClr val="2767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29500" y="36073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6749"/>
                </a:solidFill>
                <a:latin typeface="Calibri"/>
              </a:rPr>
              <a:t>H₂  2.0157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24060.0" y="2080260.0"/>
            <a:ext cx="548640.0" cy="1005840.0"/>
          </a:xfrm>
          <a:prstGeom prst="line">
            <a:avLst/>
          </a:prstGeom>
          <a:ln w="34925">
            <a:solidFill>
              <a:srgbClr val="6B4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395460" y="24185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B46C1"/>
                </a:solidFill>
                <a:latin typeface="Calibri"/>
              </a:rPr>
              <a:t>H₂O  18.0106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8161020.0" y="3086100.0"/>
            <a:ext cx="2011680.0" cy="182880.0"/>
          </a:xfrm>
          <a:prstGeom prst="line">
            <a:avLst/>
          </a:prstGeom>
          <a:ln w="34925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663940" y="30129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5621"/>
                </a:solidFill>
                <a:latin typeface="Calibri"/>
              </a:rPr>
              <a:t>CH₂  14.0157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7703820.0" y="4183380.0"/>
            <a:ext cx="2194560.0" cy="91440.0"/>
          </a:xfrm>
          <a:prstGeom prst="line">
            <a:avLst/>
          </a:prstGeom>
          <a:ln w="34925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98180" y="40645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B6CB0"/>
                </a:solidFill>
                <a:latin typeface="Calibri"/>
              </a:rPr>
              <a:t>O  15.9949</a:t>
            </a:r>
          </a:p>
        </p:txBody>
      </p:sp>
      <p:sp>
        <p:nvSpPr>
          <p:cNvPr id="32" name="Oval 31"/>
          <p:cNvSpPr/>
          <p:nvPr/>
        </p:nvSpPr>
        <p:spPr>
          <a:xfrm>
            <a:off x="7360920" y="201168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1A365D"/>
                </a:solidFill>
                <a:latin typeface="Calibri"/>
              </a:rPr>
              <a:t>A</a:t>
            </a:r>
          </a:p>
        </p:txBody>
      </p:sp>
      <p:sp>
        <p:nvSpPr>
          <p:cNvPr id="33" name="Oval 32"/>
          <p:cNvSpPr/>
          <p:nvPr/>
        </p:nvSpPr>
        <p:spPr>
          <a:xfrm>
            <a:off x="9372600" y="182880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1A365D"/>
                </a:solidFill>
                <a:latin typeface="Calibri"/>
              </a:rPr>
              <a:t>B</a:t>
            </a:r>
          </a:p>
        </p:txBody>
      </p:sp>
      <p:sp>
        <p:nvSpPr>
          <p:cNvPr id="34" name="Oval 33"/>
          <p:cNvSpPr/>
          <p:nvPr/>
        </p:nvSpPr>
        <p:spPr>
          <a:xfrm>
            <a:off x="7909560" y="301752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1A365D"/>
                </a:solidFill>
                <a:latin typeface="Calibri"/>
              </a:rPr>
              <a:t>C</a:t>
            </a:r>
          </a:p>
        </p:txBody>
      </p:sp>
      <p:sp>
        <p:nvSpPr>
          <p:cNvPr id="35" name="Oval 34"/>
          <p:cNvSpPr/>
          <p:nvPr/>
        </p:nvSpPr>
        <p:spPr>
          <a:xfrm>
            <a:off x="9921240" y="283464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1A365D"/>
                </a:solidFill>
                <a:latin typeface="Calibri"/>
              </a:rPr>
              <a:t>D</a:t>
            </a:r>
          </a:p>
        </p:txBody>
      </p:sp>
      <p:sp>
        <p:nvSpPr>
          <p:cNvPr id="36" name="Oval 35"/>
          <p:cNvSpPr/>
          <p:nvPr/>
        </p:nvSpPr>
        <p:spPr>
          <a:xfrm>
            <a:off x="7452360" y="402336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1A365D"/>
                </a:solidFill>
                <a:latin typeface="Calibri"/>
              </a:rPr>
              <a:t>E</a:t>
            </a:r>
          </a:p>
        </p:txBody>
      </p:sp>
      <p:sp>
        <p:nvSpPr>
          <p:cNvPr id="37" name="Oval 36"/>
          <p:cNvSpPr/>
          <p:nvPr/>
        </p:nvSpPr>
        <p:spPr>
          <a:xfrm>
            <a:off x="9646920" y="393192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1A365D"/>
                </a:solidFill>
                <a:latin typeface="Calibri"/>
              </a:rPr>
              <a:t>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49440" y="4709160"/>
            <a:ext cx="4663440" cy="13716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95160" y="4800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4A5568"/>
                </a:solidFill>
                <a:latin typeface="Calibri"/>
              </a:rPr>
              <a:t>Reactions (PMDs) as first-class objects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76749"/>
                </a:solidFill>
                <a:latin typeface="Calibri"/>
              </a:rPr>
              <a:t>Question: "Which reactions differ?"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5532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A5568"/>
                </a:solidFill>
                <a:latin typeface="Calibri"/>
              </a:rPr>
              <a:t>No compound ID required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</a:rPr>
              <a:t>PMD-based reactomics · Communications Chemistry 2020 · pmd 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365D"/>
                </a:solidFill>
                <a:latin typeface="Calibri"/>
              </a:rPr>
              <a:t>The Unit of Analysis Flips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475488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5568"/>
                </a:solidFill>
                <a:latin typeface="Calibri"/>
              </a:rP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B6CB0"/>
                </a:solidFill>
                <a:latin typeface="Calibri"/>
              </a:rPr>
              <a:t>Unit = Molecule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103120"/>
            <a:ext cx="3108960" cy="502920"/>
          </a:xfrm>
          <a:prstGeom prst="roundRect">
            <a:avLst>
              <a:gd name="adj" fmla="val 8000"/>
            </a:avLst>
          </a:prstGeom>
          <a:solidFill>
            <a:srgbClr val="EBF8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365D"/>
                </a:solidFill>
                <a:latin typeface="Calibri"/>
              </a:rPr>
              <a:t>Glucose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2743200"/>
            <a:ext cx="3108960" cy="502920"/>
          </a:xfrm>
          <a:prstGeom prst="roundRect">
            <a:avLst>
              <a:gd name="adj" fmla="val 8000"/>
            </a:avLst>
          </a:prstGeom>
          <a:solidFill>
            <a:srgbClr val="EBF8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8163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365D"/>
                </a:solidFill>
                <a:latin typeface="Calibri"/>
              </a:rPr>
              <a:t>Alanine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3383279"/>
            <a:ext cx="3108960" cy="502920"/>
          </a:xfrm>
          <a:prstGeom prst="roundRect">
            <a:avLst>
              <a:gd name="adj" fmla="val 8000"/>
            </a:avLst>
          </a:prstGeom>
          <a:solidFill>
            <a:srgbClr val="EBF8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4564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365D"/>
                </a:solidFill>
                <a:latin typeface="Calibri"/>
              </a:rPr>
              <a:t>ATP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4023359"/>
            <a:ext cx="3108960" cy="502920"/>
          </a:xfrm>
          <a:prstGeom prst="roundRect">
            <a:avLst>
              <a:gd name="adj" fmla="val 8000"/>
            </a:avLst>
          </a:prstGeom>
          <a:solidFill>
            <a:srgbClr val="EBF8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09651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365D"/>
                </a:solidFill>
                <a:latin typeface="Calibri"/>
              </a:rPr>
              <a:t>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206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568"/>
                </a:solidFill>
                <a:latin typeface="Calibri"/>
              </a:rPr>
              <a:t>Reactions = secondary
(edges between named nodes)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486400" y="3200400"/>
            <a:ext cx="1097280" cy="502920"/>
          </a:xfrm>
          <a:prstGeom prst="rightArrow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27889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5621"/>
                </a:solidFill>
                <a:latin typeface="Calibri"/>
              </a:rPr>
              <a:t>REACTOMICS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005840"/>
            <a:ext cx="475488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1143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5568"/>
                </a:solidFill>
                <a:latin typeface="Calibri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76749"/>
                </a:solidFill>
                <a:latin typeface="Calibri"/>
              </a:rPr>
              <a:t>Unit = Reaction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2103120"/>
            <a:ext cx="3108960" cy="502920"/>
          </a:xfrm>
          <a:prstGeom prst="roundRect">
            <a:avLst>
              <a:gd name="adj" fmla="val 8000"/>
            </a:avLst>
          </a:prstGeom>
          <a:solidFill>
            <a:srgbClr val="F0FFF4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21762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B6CB0"/>
                </a:solidFill>
                <a:latin typeface="Calibri"/>
              </a:rPr>
              <a:t>Oxidation  +O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2743200"/>
            <a:ext cx="3108960" cy="502920"/>
          </a:xfrm>
          <a:prstGeom prst="roundRect">
            <a:avLst>
              <a:gd name="adj" fmla="val 8000"/>
            </a:avLst>
          </a:prstGeom>
          <a:solidFill>
            <a:srgbClr val="F0FFF4"/>
          </a:solidFill>
          <a:ln w="25400"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8163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5621"/>
                </a:solidFill>
                <a:latin typeface="Calibri"/>
              </a:rPr>
              <a:t>Methylation  +CH₂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3383279"/>
            <a:ext cx="3108960" cy="502920"/>
          </a:xfrm>
          <a:prstGeom prst="roundRect">
            <a:avLst>
              <a:gd name="adj" fmla="val 8000"/>
            </a:avLst>
          </a:prstGeom>
          <a:solidFill>
            <a:srgbClr val="F0FFF4"/>
          </a:solidFill>
          <a:ln w="25400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4564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46C1"/>
                </a:solidFill>
                <a:latin typeface="Calibri"/>
              </a:rPr>
              <a:t>Phosphorylation  +HPO₃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4023359"/>
            <a:ext cx="3108960" cy="502920"/>
          </a:xfrm>
          <a:prstGeom prst="roundRect">
            <a:avLst>
              <a:gd name="adj" fmla="val 8000"/>
            </a:avLst>
          </a:prstGeom>
          <a:solidFill>
            <a:srgbClr val="F0FFF4"/>
          </a:solidFill>
          <a:ln w="2540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409651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5568"/>
                </a:solidFill>
                <a:latin typeface="Calibri"/>
              </a:rPr>
              <a:t>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1206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568"/>
                </a:solidFill>
                <a:latin typeface="Calibri"/>
              </a:rPr>
              <a:t>Molecules = endpoints
(may remain unnamed)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A5568"/>
                </a:solidFill>
                <a:latin typeface="Calibri"/>
              </a:rPr>
              <a:t>If endpoints must be named before a reaction is counted, the workflow has not left traditional metabolomics.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365D"/>
                </a:solidFill>
                <a:latin typeface="Calibri"/>
              </a:rPr>
              <a:t>Mass Spectrometry as a Chemical Reaction Detector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A5568"/>
                </a:solidFill>
                <a:latin typeface="Calibri"/>
              </a:rPr>
              <a:t>A fixed paired mass distance (PMD) between two ions encodes a specific biotransformation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603504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365D"/>
                </a:solidFill>
                <a:latin typeface="Calibri"/>
              </a:rPr>
              <a:t>High-resolution MS spectrum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5029200"/>
            <a:ext cx="5029200" cy="0"/>
          </a:xfrm>
          <a:prstGeom prst="line">
            <a:avLst/>
          </a:prstGeom>
          <a:ln w="25400">
            <a:solidFill>
              <a:srgbClr val="1A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280160" y="3931920"/>
            <a:ext cx="109728" cy="10972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39" y="35204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65D"/>
                </a:solidFill>
                <a:latin typeface="Calibri"/>
              </a:rPr>
              <a:t>m/z₁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651760"/>
            <a:ext cx="109728" cy="23774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224027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65D"/>
                </a:solidFill>
                <a:latin typeface="Calibri"/>
              </a:rPr>
              <a:t>m/z₂  (substrate)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200400"/>
            <a:ext cx="109728" cy="1828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788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65D"/>
                </a:solidFill>
                <a:latin typeface="Calibri"/>
              </a:rPr>
              <a:t>m/z₃  (product)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166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5621"/>
                </a:solidFill>
                <a:latin typeface="Calibri"/>
              </a:rPr>
              <a:t>◀——  PMD = |m/z₃ − m/z₂|  ——▶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5532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568"/>
                </a:solidFill>
                <a:latin typeface="Calibri"/>
              </a:rPr>
              <a:t>m/z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234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65D"/>
                </a:solidFill>
                <a:latin typeface="Calibri"/>
              </a:rPr>
              <a:t>PMD  →  Reaction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737360"/>
            <a:ext cx="48463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6749"/>
                </a:solidFill>
                <a:latin typeface="Calibri"/>
              </a:rPr>
              <a:t>2.0157 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828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65D"/>
                </a:solidFill>
                <a:latin typeface="Calibri"/>
              </a:rPr>
              <a:t>H₂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1828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4A5568"/>
                </a:solidFill>
                <a:latin typeface="Calibri"/>
              </a:rPr>
              <a:t>Reduction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2377439"/>
            <a:ext cx="48463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246887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5621"/>
                </a:solidFill>
                <a:latin typeface="Calibri"/>
              </a:rPr>
              <a:t>14.0157 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46887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65D"/>
                </a:solidFill>
                <a:latin typeface="Calibri"/>
              </a:rPr>
              <a:t>CH₂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46887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4A5568"/>
                </a:solidFill>
                <a:latin typeface="Calibri"/>
              </a:rPr>
              <a:t>Methylation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3017520"/>
            <a:ext cx="48463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6CB0"/>
                </a:solidFill>
                <a:latin typeface="Calibri"/>
              </a:rPr>
              <a:t>15.9949 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1089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65D"/>
                </a:solidFill>
                <a:latin typeface="Calibri"/>
              </a:rPr>
              <a:t>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108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4A5568"/>
                </a:solidFill>
                <a:latin typeface="Calibri"/>
              </a:rPr>
              <a:t>Oxidation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3657599"/>
            <a:ext cx="48463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374903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46C1"/>
                </a:solidFill>
                <a:latin typeface="Calibri"/>
              </a:rPr>
              <a:t>18.0106 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74903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65D"/>
                </a:solidFill>
                <a:latin typeface="Calibri"/>
              </a:rPr>
              <a:t>H₂O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7490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4A5568"/>
                </a:solidFill>
                <a:latin typeface="Calibri"/>
              </a:rPr>
              <a:t>Hydration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4297679"/>
            <a:ext cx="48463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438911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65D"/>
                </a:solidFill>
                <a:latin typeface="Calibri"/>
              </a:rPr>
              <a:t>79.9663 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38911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65D"/>
                </a:solidFill>
                <a:latin typeface="Calibri"/>
              </a:rPr>
              <a:t>HPO₃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438911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4A5568"/>
                </a:solidFill>
                <a:latin typeface="Calibri"/>
              </a:rPr>
              <a:t>Phosphorylation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66560" y="4937760"/>
            <a:ext cx="48463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9B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5029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2C2C"/>
                </a:solidFill>
                <a:latin typeface="Calibri"/>
              </a:rPr>
              <a:t>162.0528 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50292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65D"/>
                </a:solidFill>
                <a:latin typeface="Calibri"/>
              </a:rPr>
              <a:t>C₆H₁₀O₅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5029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4A5568"/>
                </a:solidFill>
                <a:latin typeface="Calibri"/>
              </a:rPr>
              <a:t>Glycosylation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1264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65D"/>
                </a:solidFill>
                <a:latin typeface="Calibri"/>
              </a:rPr>
              <a:t>Core insight: fixed Δm between ions = chemical reaction linking them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365D"/>
                </a:solidFill>
                <a:latin typeface="Calibri"/>
              </a:rPr>
              <a:t>What Makes Reactomics an Omics: Reactions Are the Analytes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568"/>
                </a:solidFill>
                <a:latin typeface="Calibri"/>
              </a:rPr>
              <a:t>Network construction alone is not enough — quantification at the reaction layer is the decisive shift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0584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43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B6CB0"/>
                </a:solidFill>
                <a:latin typeface="Calibri"/>
              </a:rPr>
              <a:t>1. Peak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568"/>
                </a:solidFill>
                <a:latin typeface="Calibri"/>
              </a:rPr>
              <a:t>Untargeted LC-MS
m/z + intensity
(no IDs needed)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00584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59" y="1143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5621"/>
                </a:solidFill>
                <a:latin typeface="Calibri"/>
              </a:rPr>
              <a:t>2. PMD pairs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568"/>
                </a:solidFill>
                <a:latin typeface="Calibri"/>
              </a:rPr>
              <a:t>Match Δm to curated
reactions (O, CH₂, …)
across all peak pairs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00584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143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76749"/>
                </a:solidFill>
                <a:latin typeface="Calibri"/>
              </a:rPr>
              <a:t>3. Reaction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568"/>
                </a:solidFill>
                <a:latin typeface="Calibri"/>
              </a:rPr>
              <a:t>getreact(): reaction × sample
activity scores for stats
&amp; comparison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03320" y="1737360"/>
            <a:ext cx="365760" cy="320040"/>
          </a:xfrm>
          <a:prstGeom prst="rightArrow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543800" y="1737360"/>
            <a:ext cx="365760" cy="320040"/>
          </a:xfrm>
          <a:prstGeom prst="rightArrow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063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365D"/>
                </a:solidFill>
                <a:latin typeface="Calibri"/>
              </a:rPr>
              <a:t>Two regulation regimes → two quantitative readouts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3520440"/>
            <a:ext cx="548640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57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B6CB0"/>
                </a:solidFill>
                <a:latin typeface="Calibri"/>
              </a:rPr>
              <a:t>Static PMD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690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568"/>
                </a:solidFill>
                <a:latin typeface="Calibri"/>
              </a:rPr>
              <a:t>Substrate &amp; product co-vary
(stable conversion efficiency)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377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65D"/>
                </a:solidFill>
                <a:latin typeface="Calibri"/>
              </a:rPr>
              <a:t>Quantify: intensity sum (S + P)
⇒ upstream / downstream control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520440"/>
            <a:ext cx="548640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657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5621"/>
                </a:solidFill>
                <a:latin typeface="Calibri"/>
              </a:rPr>
              <a:t>Dynamic PMD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0690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568"/>
                </a:solidFill>
                <a:latin typeface="Calibri"/>
              </a:rPr>
              <a:t>Substrate &amp; product diverge
(enzyme activity changes)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377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65D"/>
                </a:solidFill>
                <a:latin typeface="Calibri"/>
              </a:rPr>
              <a:t>Quantify: ratio (stable / variable)
⇒ enzyme-level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365D"/>
                </a:solidFill>
                <a:latin typeface="Calibri"/>
              </a:rPr>
              <a:t>Consequences of Treating Reactions as First-Class Objects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53949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394960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B6CB0"/>
                </a:solidFill>
                <a:latin typeface="Calibri"/>
              </a:rPr>
              <a:t>Robust to annotation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</a:rPr>
              <a:t>PMDs are computed for any peak pair — annotated or not. Missing IDs no longer block biological inference.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05840"/>
            <a:ext cx="53949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005840"/>
            <a:ext cx="5394960" cy="109728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5621"/>
                </a:solidFill>
                <a:latin typeface="Calibri"/>
              </a:rPr>
              <a:t>Chemically interpretable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202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</a:rPr>
              <a:t>Δm = 2.0157 → reduction
Δm = 14.0157 → methylation
The network is readable without a lookup 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749039"/>
            <a:ext cx="53949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749039"/>
            <a:ext cx="5394960" cy="109728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0690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76749"/>
                </a:solidFill>
                <a:latin typeface="Calibri"/>
              </a:rPr>
              <a:t>Comparable across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</a:rPr>
              <a:t>Reaction networks can be compared across conditions, species, and sample types in ways metabolite lists cannot.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749039"/>
            <a:ext cx="53949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3749039"/>
            <a:ext cx="5394960" cy="109728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0690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B46C1"/>
                </a:solidFill>
                <a:latin typeface="Calibri"/>
              </a:rPr>
              <a:t>Links to pathway 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6634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</a:rPr>
              <a:t>Connects to KEGG / HMDB / Reactome when IDs exist, yet remains usable when annotation is incomplete.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365D"/>
                </a:solidFill>
                <a:latin typeface="Calibri"/>
              </a:rPr>
              <a:t>How to edit this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A5568"/>
                </a:solidFill>
                <a:latin typeface="Calibri"/>
              </a:rPr>
              <a:t>• Every element is a native PowerPoint shape or text box — select and restyle freely.
• Slide 1 = main paradigm-shift figure (best starting point for the poster).
• Slide 2 = unit of analysis flip · Slide 3 = PMD as reaction detector
  Slide 4 = reaction-level quantification · Slide 5 = practical consequences.
• Recommended poster workflow: set slide size to your poster panel, enlarge fonts,
  then File → Export → PDF / PNG, or copy shapes into your poster master.
• Current slide size: widescreen 13.333 × 7.5 in. Change via Design → Slide Size.
• Pair with assets/pmd-orbitals.png for the quantized-PMD / orbital analogy 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